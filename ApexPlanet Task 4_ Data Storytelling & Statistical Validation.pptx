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-126" y="-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720155"/>
            <a:ext cx="11601450" cy="163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FFFFF"/>
                </a:solidFill>
                <a:latin typeface="Urbanist"/>
              </a:rPr>
              <a:t>Data Storytelling &amp;</a:t>
            </a:r>
            <a:r>
              <a:t>
</a:t>
            </a:r>
            <a:r>
              <a:rPr sz="5400" b="1" i="0" u="none">
                <a:solidFill>
                  <a:srgbClr val="00F2FE"/>
                </a:solidFill>
                <a:latin typeface="Urbanist"/>
              </a:rPr>
              <a:t>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548955"/>
            <a:ext cx="110490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9CA3AF"/>
                </a:solidFill>
                <a:latin typeface="Urbanist"/>
              </a:rPr>
              <a:t>Task 4 - ApexPlanet Data Analytics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356645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6B7280"/>
                </a:solidFill>
                <a:latin typeface="Urbanist"/>
              </a:rPr>
              <a:t>Prepared by: Pooja Chauhan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281535"/>
            <a:ext cx="5238750" cy="31998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FFFFFF"/>
                </a:solidFill>
                <a:latin typeface="Urbanist"/>
              </a:rPr>
              <a:t>Defining the </a:t>
            </a:r>
            <a:r>
              <a:rPr sz="4050" b="1" i="0" u="none">
                <a:solidFill>
                  <a:srgbClr val="00F2FE"/>
                </a:solidFill>
                <a:latin typeface="Urbanist"/>
              </a:rPr>
              <a:t>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72275" y="2672060"/>
            <a:ext cx="468058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F2FE"/>
                </a:solidFill>
                <a:latin typeface="Urbanist"/>
              </a:rPr>
              <a:t>The Statistical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2275" y="3205460"/>
            <a:ext cx="445770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D1D5DB"/>
                </a:solidFill>
                <a:latin typeface="Urbanist"/>
              </a:rPr>
              <a:t>We selected the </a:t>
            </a:r>
            <a:r>
              <a:rPr sz="1650" b="1" i="0" u="none">
                <a:solidFill>
                  <a:srgbClr val="D1D5DB"/>
                </a:solidFill>
                <a:latin typeface="Urbanist"/>
              </a:rPr>
              <a:t>Independent Two-Sample T-Test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. This test is ideal for comparing the means of two independent groups to determine if there is statistical evidence that the associated population means are significantly different.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365474"/>
            <a:ext cx="4857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1D5DB"/>
                </a:solidFill>
                <a:latin typeface="Urbanist"/>
              </a:rPr>
              <a:t>Objective: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To statistically validate if gender plays a significant role in customer spending habits.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264396"/>
            <a:ext cx="48577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1D5DB"/>
                </a:solidFill>
                <a:latin typeface="Urbanist"/>
              </a:rPr>
              <a:t>Null Hypothesis (H₀):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There is no significant difference in the Average Order Value (AOV) between Male and Female customers.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498478"/>
            <a:ext cx="4857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1D5DB"/>
                </a:solidFill>
                <a:latin typeface="Urbanist"/>
              </a:rPr>
              <a:t>Alternative Hypothesis (H₁):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A statistically significant difference exists in the AOV based on gender.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94049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92971"/>
            <a:ext cx="2857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27053"/>
            <a:ext cx="1714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24175"/>
            <a:ext cx="5629275" cy="1914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3920579"/>
            <a:ext cx="4848225" cy="16701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FFFFFF"/>
                </a:solidFill>
                <a:latin typeface="Urbanist"/>
              </a:rPr>
              <a:t>Executing the </a:t>
            </a:r>
            <a:r>
              <a:rPr sz="4050" b="1" i="0" u="none">
                <a:solidFill>
                  <a:srgbClr val="00F2FE"/>
                </a:solidFill>
                <a:latin typeface="Urbanist"/>
              </a:rPr>
              <a:t>T-Test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314700"/>
            <a:ext cx="484822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0F2FE"/>
                </a:solidFill>
                <a:latin typeface="Urbanist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171950"/>
            <a:ext cx="48482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FFFFFF"/>
                </a:solidFill>
                <a:latin typeface="Urbanist"/>
              </a:rPr>
              <a:t>SciPy Library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172146"/>
            <a:ext cx="509063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Urbanist"/>
              </a:rPr>
              <a:t>Calculation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2705546"/>
            <a:ext cx="48482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D1D5DB"/>
                </a:solidFill>
                <a:latin typeface="Urbanist"/>
              </a:rPr>
              <a:t>The test was executed using Python's SciPy library (`scipy.stats.ttest_ind`), assuming unequal variances (Welch's t-test).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550" y="4215854"/>
            <a:ext cx="4257675" cy="1079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7466"/>
            <a:ext cx="3492400" cy="40079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1877466"/>
            <a:ext cx="3492549" cy="40079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1877466"/>
            <a:ext cx="3492400" cy="40079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FFFFFF"/>
                </a:solidFill>
                <a:latin typeface="Urbanist"/>
              </a:rPr>
              <a:t>Test </a:t>
            </a:r>
            <a:r>
              <a:rPr sz="4050" b="1" i="0" u="none">
                <a:solidFill>
                  <a:srgbClr val="00F2FE"/>
                </a:solidFill>
                <a:latin typeface="Urbanist"/>
              </a:rPr>
              <a:t>Results &amp; Interpretation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267991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42628" y="3220491"/>
            <a:ext cx="115014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Urbanist"/>
              </a:rPr>
              <a:t>T-Statistic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811041"/>
            <a:ext cx="2901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CA3AF"/>
                </a:solidFill>
                <a:latin typeface="Urbanist"/>
              </a:rPr>
              <a:t>Calculated value representing the variance between the two sample groups.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5675" y="4900612"/>
            <a:ext cx="19240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1" i="0" u="none">
                <a:solidFill>
                  <a:srgbClr val="00F2FE"/>
                </a:solidFill>
                <a:latin typeface="Urbanist"/>
              </a:rPr>
              <a:t>[Insert Your t_stat]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4851" y="2267991"/>
            <a:ext cx="762000" cy="76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70798" y="3220491"/>
            <a:ext cx="85010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Urbanist"/>
              </a:rPr>
              <a:t>P-Value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4925" y="3811041"/>
            <a:ext cx="2901999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CA3AF"/>
                </a:solidFill>
                <a:latin typeface="Urbanist"/>
              </a:rPr>
              <a:t>The probability of observing these results if the Null Hypothesis were true.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4288" y="4626322"/>
            <a:ext cx="21431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1" i="0" u="none">
                <a:solidFill>
                  <a:srgbClr val="00F2FE"/>
                </a:solidFill>
                <a:latin typeface="Urbanist"/>
              </a:rPr>
              <a:t>[Insert Your p_value]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150" y="2267991"/>
            <a:ext cx="762000" cy="76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99078" y="3220491"/>
            <a:ext cx="115014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Urbanist"/>
              </a:rPr>
              <a:t>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3225" y="3811041"/>
            <a:ext cx="2901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CA3AF"/>
                </a:solidFill>
                <a:latin typeface="Urbanist"/>
              </a:rPr>
              <a:t>Based on the significance level (α = 0.05), we determine whether to reject or fail to reject H₀.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3400" y="2496591"/>
            <a:ext cx="2286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1551" y="2496591"/>
            <a:ext cx="2286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1750" y="2496591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2681287"/>
            <a:ext cx="5629275" cy="2400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336946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FFFFFF"/>
                </a:solidFill>
                <a:latin typeface="Urbanist"/>
              </a:rPr>
              <a:t>Data Story &amp; </a:t>
            </a:r>
            <a:r>
              <a:rPr sz="4050" b="1" i="0" u="none">
                <a:solidFill>
                  <a:srgbClr val="00F2FE"/>
                </a:solidFill>
                <a:latin typeface="Urbanist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0544" y="3071812"/>
            <a:ext cx="509063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F2FE"/>
                </a:solidFill>
                <a:latin typeface="Urbanist"/>
              </a:rPr>
              <a:t>The "So What?"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586162"/>
            <a:ext cx="48482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Urbanist"/>
              </a:rPr>
              <a:t>Statistical validation elevates our analysis from simple "observation" to "proven fact," allowing ApexPlanet to make confident, financially sound business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1527571"/>
            <a:ext cx="446722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1D5DB"/>
                </a:solidFill>
                <a:latin typeface="Urbanist"/>
              </a:rPr>
              <a:t>Data-Driven Reality: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The statistical validation confirms whether observed differences in spending are real or just random noise in the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096815"/>
            <a:ext cx="446722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1D5DB"/>
                </a:solidFill>
                <a:latin typeface="Urbanist"/>
              </a:rPr>
              <a:t>Targeted Marketing: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If a significant difference exists, marketing budgets should be dynamically allocated to target the higher-spending demographic.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666059"/>
            <a:ext cx="446722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1D5DB"/>
                </a:solidFill>
                <a:latin typeface="Urbanist"/>
              </a:rPr>
              <a:t>Product Optimization: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Inventory and product recommendations can be tailored based on the proven purchasing power of specific gender segments.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6146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25390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694634"/>
            <a:ext cx="285750" cy="247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305</Words>
  <Application>Microsoft Office PowerPoint</Application>
  <PresentationFormat>Custom</PresentationFormat>
  <Paragraphs>29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1</cp:revision>
  <dcterms:created xsi:type="dcterms:W3CDTF">2013-01-27T09:14:16Z</dcterms:created>
  <dcterms:modified xsi:type="dcterms:W3CDTF">2026-07-30T03:29:02Z</dcterms:modified>
  <cp:category/>
</cp:coreProperties>
</file>